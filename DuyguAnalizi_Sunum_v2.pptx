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356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54864" cy="4206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85800" y="3200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NEVŞEHİR HACI BEKTAŞ VELİ ÜNİVERSİTESİ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Mühendislik-Mimarlık Fakültesi  |  Bilgisayar Mühendisliği Bölümü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22860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Duygu Analizi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85800" y="208483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Tabanlı Leksikon &amp; Açıklanabilir Yapay Zeka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248716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 &amp;  LIME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999232"/>
            <a:ext cx="7772400" cy="22860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85800" y="312724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Esma Sıla Şahinci</a:t>
            </a:r>
            <a:r>
              <a:rPr lang="en-US" sz="1300" dirty="0">
                <a:solidFill>
                  <a:srgbClr val="9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Doğal Dil İşleme   |   2025–2026 Bahar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2976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 ·  Client-Side  ·  Saf Leksikon  ·  XAI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Amacı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1691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03327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Sınıflandırma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435608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metinleri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Pozitif / Negatif / Nötr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olarak sınıflandırmak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64008" cy="1691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103327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Açıklanabilirlik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435608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ve LIME ile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kelimenin kararı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tetiklediğini göstermek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64008" cy="1691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9077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Sunucusuz Web Uygulaması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310128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Tarayıcıda doğrudan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interaktif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arayüzü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64008" cy="1691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800600" y="2926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03520" y="29077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Yöntem Karşılaştırması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3310128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ve LIME'ın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sonuçlarını yan yana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görselleştirmek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Tabanlı Leksikon Nedir?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D6E4F7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Leksikon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kelime sözlüğü  |  </a:t>
            </a: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tabanlı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makine öğrenmesi yok, model eğitimi yok — insan tarafından yazılmış kurallar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41148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41148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47472" y="1719072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Çalışır?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2176272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3891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21762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Metni kelimelere böl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0352" y="2523744"/>
            <a:ext cx="164592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38912" y="2670048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38912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" y="26700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kelimeyi sözlükte ara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30352" y="3017520"/>
            <a:ext cx="164592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438912" y="3163824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38912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" y="31638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 skorunu al  (+0.95, −0.90...)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30352" y="3511296"/>
            <a:ext cx="164592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38912" y="3657600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38912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" y="3657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var mı? Uygula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(olumsuzlayıcı, pekiştirici)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30352" y="4005072"/>
            <a:ext cx="164592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38912" y="4151376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38912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9536" y="41513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Skorları topla → karar ver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1719072"/>
            <a:ext cx="41148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754880" y="1719072"/>
            <a:ext cx="41148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828032" y="1719072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ile Farkı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8032" y="2139696"/>
          <a:ext cx="3931920" cy="221284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Kural Tabanlı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Makine Öğrenmesi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verisi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Gerekmez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Binlerce örnek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Şeffaflık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şeffaf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 kutu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Anlık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yükle/çalıştır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kelimeler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Sözlük gerek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Otomatik öğrenir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274320" y="4535424"/>
            <a:ext cx="859536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/>
          <p:nvPr/>
        </p:nvSpPr>
        <p:spPr>
          <a:xfrm>
            <a:off x="274320" y="453542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projede kural tabanlı seçildi: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verisi yok, sunucu yok, her karar anında açıklanabilir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Analizi Motoru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32004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653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83464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38328" y="96012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POS_WORDS  (~50 kelime)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62456"/>
            <a:ext cx="256032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harika : 0.95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mükemmel : 0.93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müthiş : 0.90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beğendim : 0.88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 : 0.72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tatmin : 0.78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nazik : 0.73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Aralık: 0.60 – 0.95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834640" cy="3200400"/>
          </a:xfrm>
          <a:prstGeom prst="rect">
            <a:avLst/>
          </a:prstGeom>
          <a:solidFill>
            <a:srgbClr val="FFF1F2"/>
          </a:solidFill>
          <a:ln w="12700">
            <a:solidFill>
              <a:srgbClr val="991B1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83464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264408" y="96012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NEG_WORDS  (~55 kelime)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362456"/>
            <a:ext cx="256032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berbat : 0.95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rezalet : 0.94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 : 0.90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korkunç : 0.92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başarısız : 0.85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beğenmedim : 0.85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pişmanım : 0.83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Aralık: 0.55 – 0.95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83464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83464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190488" y="96012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NEU_WORDS  (~70 kelime)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362456"/>
            <a:ext cx="256032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bugün, saat, tren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toplantı, rapor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bulutlu, haftalık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büyük, var, yok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= 0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isExplicitNeutral = true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Olgusal kelimeler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28600" y="4261104"/>
            <a:ext cx="8686800" cy="548640"/>
          </a:xfrm>
          <a:prstGeom prst="rect">
            <a:avLst/>
          </a:prstGeom>
          <a:solidFill>
            <a:srgbClr val="D6E4F7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20040" y="426110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 Sırası:  </a:t>
            </a: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NEGATORS  →  INTENSIFIERS  →  POS_WORDS  →  NEG_WORDS  →  NEU_WORDS  →  Örtük Nötr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Olumsuzlayıcı &amp; Pekiştirici Kurallar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FF7F7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47472" y="960120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NEGATORS — Olumsuzlayıcılar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değil  ·  hiç  ·  asla  ·  kesinlikle değil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yoktu  ·  olmadı  ·  olmaz  ·  yapmadı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365760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skor_son = −(skor_asıl × 0.80)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9443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"hiç iyi değil"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POS(iyi, 0.72) × −0.80 =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−0.576  [NEGATİF]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703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"olmadı kötü"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NEG(kötü, −0.90) × −0.80 =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+0.720  [POZİTİF]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828032" y="960120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INTENSIFIERS — Pekiştiriciler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Güçlendirici (&gt;1.0):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16642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çok:1.30  ·  gerçekten:1.25  ·  son derece:1.35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oldukça:1.20  ·  aşırı:1.30  ·  fazlasıyla:1.28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gayet:1.18  ·  epey:1.15  ·  en:1.25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2450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Zayıflatıcı (&lt;1.0):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883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biraz:0.70  ·  az:0.65  ·  pek:0.75  ·  hafifçe:0.60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30358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Örnekler: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"çok harika"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0.95 × 1.30 = +1.235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6484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"gerçekten kötü"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−0.90 × 1.25 = −1.125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9867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"biraz pahalı"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−0.62 × 0.70 = −0.434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 LIME — Projede Nasıl Uygulandı?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420624"/>
          </a:xfrm>
          <a:prstGeom prst="rect">
            <a:avLst/>
          </a:prstGeom>
          <a:solidFill>
            <a:srgbClr val="D6E4F7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örnek:  </a:t>
            </a:r>
            <a:r>
              <a:rPr lang="en-US" sz="12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"harika beğendim"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harika: +0.95   |   beğendim: +0.88   |   rawScore = +1.83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426464"/>
            <a:ext cx="41148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74320" y="1426464"/>
            <a:ext cx="41148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47472" y="1426464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Her kelimeyi tek tek çıkar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Soru: "Bu kelime olmasaydı skor ne olurdu?"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176272"/>
          <a:ext cx="3840480" cy="13716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Çıkarılan kelime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 rawScore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φ (katkı)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"harika"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+0.95  ⬆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"beğendim"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+0.88  ⬆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47472" y="3611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1.83 − kalan skor   →   fark büyükse kelime önemli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" y="3931920"/>
            <a:ext cx="3840480" cy="402336"/>
          </a:xfrm>
          <a:prstGeom prst="rect">
            <a:avLst/>
          </a:prstGeom>
          <a:solidFill>
            <a:srgbClr val="D6E4F7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347472" y="393192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Deterministik — her seferinde aynı sonucu verir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1426464"/>
            <a:ext cx="41148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3"/>
          <p:cNvSpPr/>
          <p:nvPr/>
        </p:nvSpPr>
        <p:spPr>
          <a:xfrm>
            <a:off x="4754880" y="1426464"/>
            <a:ext cx="41148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4828032" y="1426464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— 120 rastgele kombinasyon dene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28032" y="18653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Soru: "Kelime varken skor, yokken skordan ne kadar yüksek?"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8032" y="2176272"/>
          <a:ext cx="3931920" cy="164592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harika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beğendim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1]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0]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0]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4828032" y="38770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LIME("harika")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ort(1.83,0.95) − ort(0.88,0) = </a:t>
            </a: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+0.95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828032" y="4187952"/>
            <a:ext cx="384048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18"/>
          <p:cNvSpPr/>
          <p:nvPr/>
        </p:nvSpPr>
        <p:spPr>
          <a:xfrm>
            <a:off x="4828032" y="4187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Stokastik — 120 farklı kombinasyon, sonuç hafif değişebilir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Ham Skor? (rawScore Tasarımı)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şunu sorar: "harika" kelimesini çıkarınca skor ne kadar değişti?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14800" cy="3246120"/>
          </a:xfrm>
          <a:prstGeom prst="rect">
            <a:avLst/>
          </a:prstGeom>
          <a:solidFill>
            <a:srgbClr val="FFF5F5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11480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47472" y="1371600"/>
            <a:ext cx="3968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Normalize Skor (yüzde) 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883664"/>
            <a:ext cx="3794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" y="188366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"harika beğendim"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Pozitif %100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487168"/>
            <a:ext cx="3794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"beğendim"  (harika çıkarıldı)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Pozitif %100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145536"/>
            <a:ext cx="379476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11480" y="3145536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 = 0  →  "harika önemsiz görünür"  (YANLIŞ!)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3694176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Yüzde her zaman %100'e tamamlandığından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ekleyip çıkarmak farkı göstermiyor.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4114800" cy="32461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411480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828032" y="1371600"/>
            <a:ext cx="3968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Ham Skor (rawScore) ile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1883664"/>
            <a:ext cx="3794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937760" y="188366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"harika beğendim"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rawScore = +1.83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2487168"/>
            <a:ext cx="3794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937760" y="248716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"beğendim"  (harika çıkarıldı)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rawScore = +0.88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3145536"/>
            <a:ext cx="379476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892040" y="3145536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 = +0.95  →  harika çok önemli  ✓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92040" y="3694176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rawScore = posSum − negSum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ne kadar katkı sağladıysa o kadar görünür.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Arayüzü Bileşenleri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4864" cy="10789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84048" y="103327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1014984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Girişi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362456"/>
            <a:ext cx="3364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metin alanı + Ctrl+Enter kısayolu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54864" cy="10789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818888" y="103327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30952" y="1014984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Örnek Cümle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30952" y="1362456"/>
            <a:ext cx="3364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Pozitif / Negatif / Nötr / Karma hazır örnekler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13055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74320" y="2130552"/>
            <a:ext cx="54864" cy="10789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84048" y="2203704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🌡️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" y="2185416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Isı Haritası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2532888"/>
            <a:ext cx="3364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token renk sınıfıyla gösterilir  (pos-strong → neg-strong)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13055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709160" y="2130552"/>
            <a:ext cx="54864" cy="10789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818888" y="2203704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30952" y="2185416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Grafiği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30952" y="2532888"/>
            <a:ext cx="3364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Pozitif sağa / Negatif sola — en etkili 8 kelime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3300984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274320" y="3300984"/>
            <a:ext cx="54864" cy="10789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84048" y="337413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96112" y="3355848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Grafiği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6112" y="3703320"/>
            <a:ext cx="3364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hesaplanır, SHAP ile yan yana karşılaştırma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3300984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4709160" y="3300984"/>
            <a:ext cx="54864" cy="10789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818888" y="337413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30952" y="3355848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 Tablosu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30952" y="3703320"/>
            <a:ext cx="3364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başına SHAP &amp; LIME değerleri + işaret uyumu ✓/✗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Analiz Sonuçları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8686800" cy="3950208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Cümle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Nötr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film gerçekten harikaydı, çok beğendim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Pozitif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Servis çok kötüydü, yemekler soğuk geldi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 kaliteli ama fiyat biraz pahalı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Pozitif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Hava bugün bulutlu ve rüzgarlı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Nötr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Toplantı saat 14:00'te başlayacak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Nötr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&amp; Katkılar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rawScore tasarımı:</a:t>
            </a: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XAI'nin anlamlı sonuç üretmesini sağladı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= Exact Shapley:</a:t>
            </a: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O(2ⁿ) → O(n) karmaşıklık azaltımı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74320" y="184708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Zayıflatıcı kelimeler (biraz, az, pek):</a:t>
            </a: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Derecelendirme ifadelerinin doğru modellenmesi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" y="2322576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Nötr seyrek açıklama:</a:t>
            </a: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φᵢ=0 teorik gerekçesi (Dummy Axiom) ortaya kondu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74320" y="27980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Sunucusuz mimari:</a:t>
            </a: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Tarayıcıda doğrudan çalışır, altyapı gerektirmez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" y="3328416"/>
            <a:ext cx="8595360" cy="22860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74320" y="3401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Sınırlılıklar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373075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Sözlükte olmayan kelimeler (argo, neolojizm) nötr sayılır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4320" y="4078224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Morfolojik analiz eksikliği — aynı kökün farklı biçimleri ayrı giriş gerektirir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274320" y="484632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NEVŞEHİR HACI BEKTAŞ VELİ ÜNİVERSİTESİ  |  Doğal Dil İşleme  |  2025–2026 Bahar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1067</Words>
  <Application>Microsoft Office PowerPoint</Application>
  <PresentationFormat>Ekran Gösterisi (16:9)</PresentationFormat>
  <Paragraphs>240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Türkçe Duygu Analizi</dc:title>
  <dc:subject>PptxGenJS Presentation</dc:subject>
  <dc:creator>Esma Sıla Şahinci</dc:creator>
  <cp:lastModifiedBy>Esma Sıla Şahinci</cp:lastModifiedBy>
  <cp:revision>2</cp:revision>
  <dcterms:created xsi:type="dcterms:W3CDTF">2026-05-13T19:59:37Z</dcterms:created>
  <dcterms:modified xsi:type="dcterms:W3CDTF">2026-05-13T20:14:06Z</dcterms:modified>
</cp:coreProperties>
</file>